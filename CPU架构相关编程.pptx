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CPU</a:t>
            </a:r>
            <a:r>
              <a:rPr lang="zh-CN" altLang="en-US" dirty="0"/>
              <a:t>架构相关编程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5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/>
            <a:r>
              <a:rPr lang="zh-CN" altLang="en-US" sz="1600" dirty="0"/>
              <a:t>实验内容：</a:t>
            </a:r>
          </a:p>
          <a:p>
            <a:pPr marL="400050" lvl="0" indent="-400050">
              <a:buFont typeface="+mj-lt"/>
              <a:buAutoNum type="romanUcPeriod"/>
            </a:pPr>
            <a:r>
              <a:rPr lang="zh-CN" altLang="en-US" sz="1600" dirty="0"/>
              <a:t>计算给定</a:t>
            </a:r>
            <a:r>
              <a:rPr lang="en-US" altLang="zh-CN" sz="1600" dirty="0"/>
              <a:t>n*n</a:t>
            </a:r>
            <a:r>
              <a:rPr lang="zh-CN" altLang="en-US" sz="1600" dirty="0"/>
              <a:t>矩阵的每一列与给定向量的内积，考虑两种算法设计思路：</a:t>
            </a:r>
            <a:endParaRPr lang="en-US" altLang="zh-CN" sz="1600" dirty="0"/>
          </a:p>
          <a:p>
            <a:pPr marL="699770" lvl="1" indent="-342900">
              <a:buFont typeface="+mj-lt"/>
              <a:buAutoNum type="alphaLcParenR"/>
            </a:pPr>
            <a:r>
              <a:rPr lang="zh-CN" altLang="en-US" sz="1600" dirty="0"/>
              <a:t>逐列访问元素的平凡算法。</a:t>
            </a:r>
            <a:endParaRPr lang="en-US" altLang="zh-CN" sz="1600" dirty="0"/>
          </a:p>
          <a:p>
            <a:pPr marL="699770" lvl="1" indent="-342900">
              <a:buFont typeface="+mj-lt"/>
              <a:buAutoNum type="alphaLcParenR"/>
            </a:pPr>
            <a:r>
              <a:rPr lang="en-US" altLang="zh-CN" sz="1600" dirty="0"/>
              <a:t>cache</a:t>
            </a:r>
            <a:r>
              <a:rPr lang="zh-CN" altLang="en-US" sz="1600" dirty="0"/>
              <a:t>优化算法。</a:t>
            </a:r>
          </a:p>
          <a:p>
            <a:pPr marL="342900" lvl="0" indent="-342900">
              <a:buFont typeface="+mj-lt"/>
              <a:buAutoNum type="romanUcPeriod"/>
            </a:pPr>
            <a:r>
              <a:rPr lang="zh-CN" altLang="en-US" sz="1600" dirty="0"/>
              <a:t>计算</a:t>
            </a:r>
            <a:r>
              <a:rPr lang="en-US" altLang="zh-CN" sz="1600" dirty="0"/>
              <a:t>n</a:t>
            </a:r>
            <a:r>
              <a:rPr lang="zh-CN" altLang="en-US" sz="1600" dirty="0"/>
              <a:t>个数的和，考虑两种算法设计思路：</a:t>
            </a:r>
            <a:endParaRPr lang="en-US" altLang="zh-CN" sz="1600" dirty="0"/>
          </a:p>
          <a:p>
            <a:pPr marL="699770" lvl="1" indent="-342900">
              <a:buFont typeface="+mj-lt"/>
              <a:buAutoNum type="alphaLcParenR"/>
            </a:pPr>
            <a:r>
              <a:rPr lang="zh-CN" altLang="en-US" sz="1600" dirty="0"/>
              <a:t>逐个累加的平凡算法（链式）。</a:t>
            </a:r>
            <a:endParaRPr lang="en-US" altLang="zh-CN" sz="1600" dirty="0"/>
          </a:p>
          <a:p>
            <a:pPr marL="699770" lvl="1" indent="-342900">
              <a:buFont typeface="+mj-lt"/>
              <a:buAutoNum type="alphaLcParenR"/>
            </a:pPr>
            <a:r>
              <a:rPr lang="zh-CN" altLang="en-US" sz="1600" dirty="0"/>
              <a:t>超标量优化算法（指令级并行），如最简单的两路链式累加；再如递归算法</a:t>
            </a:r>
            <a:r>
              <a:rPr lang="en-US" altLang="zh-CN" sz="1600" dirty="0"/>
              <a:t>——</a:t>
            </a:r>
            <a:r>
              <a:rPr lang="zh-CN" altLang="en-US" sz="1600" dirty="0"/>
              <a:t>两两相加、中间结果再两两相加，依次类推，直至只剩下最终结果。</a:t>
            </a:r>
          </a:p>
          <a:p>
            <a:pPr lvl="0"/>
            <a:endParaRPr lang="en-US" altLang="zh-CN" sz="1600" dirty="0"/>
          </a:p>
          <a:p>
            <a:pPr lvl="0"/>
            <a:r>
              <a:rPr lang="zh-CN" altLang="en-US" sz="1600" dirty="0"/>
              <a:t>基本要求（</a:t>
            </a:r>
            <a:r>
              <a:rPr lang="en-US" altLang="zh-CN" sz="1600" dirty="0"/>
              <a:t>4</a:t>
            </a:r>
            <a:r>
              <a:rPr lang="zh-CN" altLang="en-US" sz="1600" dirty="0"/>
              <a:t>分）：</a:t>
            </a:r>
            <a:endParaRPr lang="en-US" altLang="zh-CN" sz="1600" dirty="0"/>
          </a:p>
          <a:p>
            <a:pPr marL="342900" lvl="0" indent="-342900">
              <a:buAutoNum type="arabicPeriod"/>
            </a:pPr>
            <a:r>
              <a:rPr lang="zh-CN" altLang="en-US" sz="1600" dirty="0"/>
              <a:t>对两个问题不同算法设计思路的编程实现。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sz="1600" dirty="0"/>
              <a:t>练习使用高精度计时测试程序执行时间，比较平凡算法和优化算法的性能。提示：</a:t>
            </a:r>
          </a:p>
          <a:p>
            <a:pPr marL="699770" lvl="1" indent="-342900">
              <a:buFont typeface="+mj-lt"/>
              <a:buAutoNum type="alphaLcParenR"/>
            </a:pPr>
            <a:r>
              <a:rPr lang="zh-CN" altLang="en-US" sz="1600" dirty="0">
                <a:sym typeface="+mn-ea"/>
              </a:rPr>
              <a:t>测试数据的生成采用人为设计的固定值即可，便于判断算法正确性。</a:t>
            </a:r>
            <a:endParaRPr lang="zh-CN" altLang="en-US" sz="1600" dirty="0"/>
          </a:p>
          <a:p>
            <a:pPr marL="699770" lvl="1" indent="-342900">
              <a:buFont typeface="+mj-lt"/>
              <a:buAutoNum type="alphaLcParenR"/>
            </a:pPr>
            <a:r>
              <a:rPr lang="zh-CN" altLang="en-US" sz="1600" dirty="0"/>
              <a:t>计时、测试要考虑全面，令结果更有说服力，如程序执行时间可能很短，可采用多次实验拉长时间缓解实验误差；再如测试不同问题规模，分析其与系统参数（如</a:t>
            </a:r>
            <a:r>
              <a:rPr lang="en-US" altLang="zh-CN" sz="1600" dirty="0"/>
              <a:t>cache</a:t>
            </a:r>
            <a:r>
              <a:rPr lang="zh-CN" altLang="en-US" sz="1600" dirty="0"/>
              <a:t>大小）相对关系对性能的影响等。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sz="1600" dirty="0">
                <a:sym typeface="+mn-ea"/>
              </a:rPr>
              <a:t>实验平台为</a:t>
            </a:r>
            <a:r>
              <a:rPr lang="en-US" altLang="zh-CN" sz="1600" dirty="0">
                <a:sym typeface="+mn-ea"/>
              </a:rPr>
              <a:t>arm</a:t>
            </a:r>
            <a:r>
              <a:rPr lang="zh-CN" altLang="en-US" sz="1600" dirty="0">
                <a:sym typeface="+mn-ea"/>
              </a:rPr>
              <a:t>平台（本地</a:t>
            </a:r>
            <a:r>
              <a:rPr lang="en-US" altLang="zh-CN" sz="1600" dirty="0">
                <a:sym typeface="+mn-ea"/>
              </a:rPr>
              <a:t>arm</a:t>
            </a:r>
            <a:r>
              <a:rPr lang="zh-CN" altLang="en-US" sz="1600" dirty="0">
                <a:sym typeface="+mn-ea"/>
              </a:rPr>
              <a:t>平台或</a:t>
            </a:r>
            <a:r>
              <a:rPr lang="en-US" altLang="zh-CN" sz="1600" dirty="0">
                <a:sym typeface="+mn-ea"/>
              </a:rPr>
              <a:t>x86</a:t>
            </a:r>
            <a:r>
              <a:rPr lang="zh-CN" altLang="en-US" sz="1600" dirty="0">
                <a:sym typeface="+mn-ea"/>
              </a:rPr>
              <a:t>平台</a:t>
            </a:r>
            <a:r>
              <a:rPr lang="en-US" altLang="zh-CN" sz="1600" dirty="0">
                <a:sym typeface="+mn-ea"/>
              </a:rPr>
              <a:t>arm</a:t>
            </a:r>
            <a:r>
              <a:rPr lang="zh-CN" altLang="en-US" sz="1600" dirty="0">
                <a:sym typeface="+mn-ea"/>
              </a:rPr>
              <a:t>虚拟环境）或</a:t>
            </a:r>
            <a:r>
              <a:rPr lang="en-US" altLang="zh-CN" sz="1600" dirty="0">
                <a:sym typeface="+mn-ea"/>
              </a:rPr>
              <a:t>x86</a:t>
            </a:r>
            <a:r>
              <a:rPr lang="zh-CN" altLang="en-US" sz="1600" dirty="0">
                <a:sym typeface="+mn-ea"/>
              </a:rPr>
              <a:t>平台（详见实验教学指导书</a:t>
            </a:r>
            <a:r>
              <a:rPr lang="en-US" altLang="zh-CN" sz="1600" dirty="0">
                <a:sym typeface="+mn-ea"/>
              </a:rPr>
              <a:t>Lab0</a:t>
            </a:r>
            <a:r>
              <a:rPr lang="zh-CN" altLang="en-US" sz="1600" dirty="0">
                <a:sym typeface="+mn-ea"/>
              </a:rPr>
              <a:t>）。</a:t>
            </a:r>
          </a:p>
          <a:p>
            <a:pPr marL="242570" lvl="0" indent="-342900">
              <a:buFont typeface="+mj-lt"/>
              <a:buAutoNum type="arabicPeriod" startAt="2"/>
            </a:pPr>
            <a:r>
              <a:rPr lang="zh-CN" altLang="en-US" sz="1600" dirty="0">
                <a:sym typeface="+mn-ea"/>
              </a:rPr>
              <a:t>撰写实验报告（基本要求如第一次作业），描述清楚程序设计思路（给出源码项目</a:t>
            </a:r>
            <a:r>
              <a:rPr lang="en-US" altLang="zh-CN" sz="1600" dirty="0" err="1">
                <a:sym typeface="+mn-ea"/>
              </a:rPr>
              <a:t>Github</a:t>
            </a:r>
            <a:r>
              <a:rPr lang="zh-CN" altLang="en-US" sz="1600" dirty="0">
                <a:sym typeface="+mn-ea"/>
              </a:rPr>
              <a:t>（或</a:t>
            </a:r>
            <a:r>
              <a:rPr lang="en-US" altLang="zh-CN" sz="1600" dirty="0" err="1">
                <a:sym typeface="+mn-ea"/>
              </a:rPr>
              <a:t>Gitee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GitLab</a:t>
            </a:r>
            <a:r>
              <a:rPr lang="zh-CN" altLang="en-US" sz="1600" dirty="0">
                <a:sym typeface="+mn-ea"/>
              </a:rPr>
              <a:t>等）链接，详见实验教学指导书</a:t>
            </a:r>
            <a:r>
              <a:rPr lang="en-US" altLang="zh-CN" sz="1600" dirty="0">
                <a:sym typeface="+mn-ea"/>
              </a:rPr>
              <a:t>Lab1</a:t>
            </a:r>
            <a:r>
              <a:rPr lang="zh-CN" altLang="en-US" sz="1600" dirty="0">
                <a:sym typeface="+mn-ea"/>
              </a:rPr>
              <a:t>）、实验平台配置、实验方案设计、实验结果呈现及分析等，篇幅不超过</a:t>
            </a:r>
            <a:r>
              <a:rPr lang="en-US" altLang="zh-CN" sz="1600" dirty="0">
                <a:sym typeface="+mn-ea"/>
              </a:rPr>
              <a:t>8</a:t>
            </a:r>
            <a:r>
              <a:rPr lang="zh-CN" altLang="en-US" sz="1600" dirty="0">
                <a:sym typeface="+mn-ea"/>
              </a:rPr>
              <a:t>页（包含进阶要求）。</a:t>
            </a:r>
            <a:endParaRPr lang="en-US" altLang="zh-CN" sz="1600" dirty="0">
              <a:sym typeface="+mn-ea"/>
            </a:endParaRPr>
          </a:p>
          <a:p>
            <a:pPr marL="242570" lvl="0" indent="-342900">
              <a:buFont typeface="+mj-lt"/>
              <a:buAutoNum type="arabicPeriod" startAt="2"/>
            </a:pPr>
            <a:r>
              <a:rPr lang="zh-CN" altLang="en-US" sz="1600" dirty="0">
                <a:sym typeface="+mn-ea"/>
              </a:rPr>
              <a:t>助教会按需对代码、报告进行查重、答辩等。</a:t>
            </a:r>
            <a:endParaRPr lang="zh-CN" altLang="en-US" sz="1600" dirty="0"/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/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/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/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sz="1600" dirty="0"/>
              <a:t>进阶要求（</a:t>
            </a:r>
            <a:r>
              <a:rPr lang="en-US" altLang="zh-CN" sz="1600" dirty="0"/>
              <a:t>1</a:t>
            </a:r>
            <a:r>
              <a:rPr lang="zh-CN" altLang="en-US" sz="1600" dirty="0"/>
              <a:t>分）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ym typeface="+mn-ea"/>
              </a:rPr>
              <a:t>可采用循环展开（</a:t>
            </a:r>
            <a:r>
              <a:rPr lang="en-US" altLang="zh-CN" sz="1600" dirty="0">
                <a:sym typeface="+mn-ea"/>
              </a:rPr>
              <a:t>unroll</a:t>
            </a:r>
            <a:r>
              <a:rPr lang="zh-CN" altLang="en-US" sz="1600" dirty="0">
                <a:sym typeface="+mn-ea"/>
              </a:rPr>
              <a:t>）技术，降低循环操作（循环判定、归纳变量递增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递减等）对性能的影响，甚至可以采用宏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模板技术彻底消除循环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ym typeface="+mn-ea"/>
              </a:rPr>
              <a:t>鼓励开放思路，思考更多算法设计思路来探索现代计算机体系结构中</a:t>
            </a:r>
            <a:r>
              <a:rPr lang="en-US" altLang="zh-CN" sz="1600" dirty="0">
                <a:sym typeface="+mn-ea"/>
              </a:rPr>
              <a:t>cache</a:t>
            </a:r>
            <a:r>
              <a:rPr lang="zh-CN" altLang="en-US" sz="1600" dirty="0">
                <a:sym typeface="+mn-ea"/>
              </a:rPr>
              <a:t>和超标量对程序性能的影响</a:t>
            </a:r>
            <a:r>
              <a:rPr lang="zh-CN" altLang="en-US" sz="1600" dirty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ym typeface="+mn-ea"/>
              </a:rPr>
              <a:t>鼓励开放思路，做更多实验和分析，如探讨编译器不同优化力度对性能的影响；浮点数运算次序的不同对结果的影响等等。</a:t>
            </a:r>
            <a:endParaRPr lang="en-US" altLang="zh-CN" sz="1600" dirty="0"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ym typeface="+mn-ea"/>
              </a:rPr>
              <a:t>练习使用</a:t>
            </a:r>
            <a:r>
              <a:rPr lang="en-US" altLang="zh-CN" sz="1600" dirty="0" err="1">
                <a:sym typeface="+mn-ea"/>
              </a:rPr>
              <a:t>vtune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perf</a:t>
            </a:r>
            <a:r>
              <a:rPr lang="zh-CN" altLang="en-US" sz="1600" dirty="0">
                <a:sym typeface="+mn-ea"/>
              </a:rPr>
              <a:t>等工具对程序进行更细致的</a:t>
            </a:r>
            <a:r>
              <a:rPr lang="en-US" altLang="zh-CN" sz="1600" dirty="0">
                <a:sym typeface="+mn-ea"/>
              </a:rPr>
              <a:t>profiling</a:t>
            </a:r>
            <a:r>
              <a:rPr lang="zh-CN" altLang="en-US" sz="1600" dirty="0">
                <a:sym typeface="+mn-ea"/>
              </a:rPr>
              <a:t>，分析</a:t>
            </a:r>
            <a:r>
              <a:rPr lang="en-US" altLang="zh-CN" sz="1600" dirty="0">
                <a:sym typeface="+mn-ea"/>
              </a:rPr>
              <a:t>profiling</a:t>
            </a:r>
            <a:r>
              <a:rPr lang="zh-CN" altLang="en-US" sz="1600" dirty="0">
                <a:sym typeface="+mn-ea"/>
              </a:rPr>
              <a:t>结果与性能表现间的关系。</a:t>
            </a:r>
            <a:endParaRPr lang="en-US" altLang="zh-CN" sz="1600" dirty="0"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ym typeface="+mn-ea"/>
              </a:rPr>
              <a:t>利用</a:t>
            </a:r>
            <a:r>
              <a:rPr lang="en-US" altLang="zh-CN" sz="1600" dirty="0">
                <a:sym typeface="+mn-ea"/>
                <a:hlinkClick r:id="rId3"/>
              </a:rPr>
              <a:t>https://godbolt.org/</a:t>
            </a:r>
            <a:r>
              <a:rPr lang="zh-CN" altLang="en-US" sz="1600" dirty="0">
                <a:sym typeface="+mn-ea"/>
              </a:rPr>
              <a:t>网站研究不同编译器生成的目标代码（汇编程序）（或自己用编译器从源程序生成汇编代码），以探索性能表现的原因。</a:t>
            </a:r>
            <a:endParaRPr lang="en-US" altLang="zh-CN" sz="1600" dirty="0"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ym typeface="+mn-ea"/>
              </a:rPr>
              <a:t>可尝试不同硬件平台（如</a:t>
            </a:r>
            <a:r>
              <a:rPr lang="en-US" altLang="zh-CN" sz="1600" dirty="0">
                <a:sym typeface="+mn-ea"/>
              </a:rPr>
              <a:t>x86</a:t>
            </a:r>
            <a:r>
              <a:rPr lang="zh-CN" altLang="en-US" sz="1600" dirty="0">
                <a:sym typeface="+mn-ea"/>
              </a:rPr>
              <a:t>等）和不同操作系统（如</a:t>
            </a:r>
            <a:r>
              <a:rPr lang="en-US" altLang="zh-CN" sz="1600" dirty="0">
                <a:sym typeface="+mn-ea"/>
              </a:rPr>
              <a:t>Windows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Linux</a:t>
            </a:r>
            <a:r>
              <a:rPr lang="zh-CN" altLang="en-US" sz="1600" dirty="0">
                <a:sym typeface="+mn-ea"/>
              </a:rPr>
              <a:t>等）上的实验、进行对比分析等，但注意：从</a:t>
            </a:r>
            <a:r>
              <a:rPr lang="en-US" altLang="zh-CN" sz="1600" dirty="0">
                <a:sym typeface="+mn-ea"/>
              </a:rPr>
              <a:t>CPU</a:t>
            </a:r>
            <a:r>
              <a:rPr lang="zh-CN" altLang="en-US" sz="1600" dirty="0">
                <a:sym typeface="+mn-ea"/>
              </a:rPr>
              <a:t>架构编程的角度来说，本质上是不同平台上重复工作的内容不会有加分效果。</a:t>
            </a:r>
            <a:endParaRPr lang="en-US" altLang="zh-CN" sz="1600" dirty="0"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ym typeface="+mn-ea"/>
              </a:rPr>
              <a:t>利用大语言模型辅助设计算法、编程、设计试验方案、探索优化方向等等，但注意只应是辅助、而不能是替代，具体示例和要求见实验教学指导书</a:t>
            </a:r>
            <a:r>
              <a:rPr lang="en-US" altLang="zh-CN" sz="1600" dirty="0">
                <a:sym typeface="+mn-ea"/>
              </a:rPr>
              <a:t>Lab2</a:t>
            </a:r>
            <a:r>
              <a:rPr lang="zh-CN" altLang="en-US" sz="1600" dirty="0">
                <a:sym typeface="+mn-ea"/>
              </a:rPr>
              <a:t>，与大语言模型的完整对话截图作为附件附加在报告末尾（不在页数限制内</a:t>
            </a:r>
            <a:r>
              <a:rPr lang="zh-CN" altLang="en-US" sz="1600">
                <a:sym typeface="+mn-ea"/>
              </a:rPr>
              <a:t>）。本次作业这方面仅做练习，并不在评分标准内。</a:t>
            </a:r>
            <a:endParaRPr lang="zh-CN" altLang="en-US" sz="1600" dirty="0"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其他自由发挥。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5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704</Words>
  <Application>Microsoft Office PowerPoint</Application>
  <PresentationFormat>全屏显示(16:10)</PresentationFormat>
  <Paragraphs>34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</vt:lpstr>
      <vt:lpstr>Arial</vt:lpstr>
      <vt:lpstr>Office 主题​​</vt:lpstr>
      <vt:lpstr>CPU架构相关编程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刚 王</cp:lastModifiedBy>
  <cp:revision>41</cp:revision>
  <dcterms:created xsi:type="dcterms:W3CDTF">2023-02-07T13:40:21Z</dcterms:created>
  <dcterms:modified xsi:type="dcterms:W3CDTF">2026-03-19T11:59:42Z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B1F463E87D7FD95DAA49E263E82D0E63</vt:lpwstr>
  </property>
  <property fmtid="{D5CDD505-2E9C-101B-9397-08002B2CF9AE}" pid="3" name="KSOProductBuildVer">
    <vt:lpwstr>2052-5.1.1.7676</vt:lpwstr>
  </property>
</Properties>
</file>